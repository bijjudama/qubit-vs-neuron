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902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BIJJUDAMA/Qubit-vs-Neuron repository and its case study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VQC = parameterized quantum circuit trained in a hybrid loop; compared against a classical MLP under identical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binary classification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backend: PennyLane default.qubit QNodes with the Torch interface and simulator backpropagation (shots=None).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and table in the manuscript is generated from actual PennyLane executions.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Artifacts live in the results/ folder of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by the authors in the repository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92608"/>
            <a:ext cx="82296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Qubit vs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046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0D5E2"/>
                </a:solidFill>
                <a:latin typeface="Aptos"/>
              </a:rPr>
              <a:t>A comparative case study of quantum and classical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389888"/>
            <a:ext cx="8193024" cy="2331720"/>
          </a:xfrm>
          <a:prstGeom prst="roundRect">
            <a:avLst>
              <a:gd name="adj" fmla="val 8000"/>
            </a:avLst>
          </a:prstGeom>
          <a:solidFill>
            <a:srgbClr val="183653"/>
          </a:solidFill>
          <a:ln>
            <a:solidFill>
              <a:srgbClr val="2F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76352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Variational Quantum Classifier  vs  PyTorch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72237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DE0EB"/>
                </a:solidFill>
                <a:latin typeface="Aptos"/>
              </a:rPr>
              <a:t>Iris  ·  Two Moons  ·  Concentric Circles  ·  QDataSet quantum dynamics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15468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284B68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20954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83464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008491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288950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15468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284B68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320954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5468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008491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20954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⟨Z⟩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83464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284B68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88950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154680"/>
            <a:ext cx="530352" cy="347472"/>
          </a:xfrm>
          <a:prstGeom prst="roundRect">
            <a:avLst>
              <a:gd name="adj" fmla="val 8000"/>
            </a:avLst>
          </a:prstGeom>
          <a:solidFill>
            <a:srgbClr val="284B68"/>
          </a:solidFill>
          <a:ln>
            <a:solidFill>
              <a:srgbClr val="4A8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3209544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3352" y="3300984"/>
            <a:ext cx="201167" cy="22860"/>
          </a:xfrm>
          <a:prstGeom prst="rect">
            <a:avLst/>
          </a:prstGeom>
          <a:solidFill>
            <a:srgbClr val="3FA7B5"/>
          </a:solidFill>
          <a:ln>
            <a:solidFill>
              <a:srgbClr val="3FA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04872" y="3300984"/>
            <a:ext cx="201168" cy="22860"/>
          </a:xfrm>
          <a:prstGeom prst="rect">
            <a:avLst/>
          </a:prstGeom>
          <a:solidFill>
            <a:srgbClr val="3FA7B5"/>
          </a:solidFill>
          <a:ln>
            <a:solidFill>
              <a:srgbClr val="3FA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68312" y="3300984"/>
            <a:ext cx="201167" cy="22860"/>
          </a:xfrm>
          <a:prstGeom prst="rect">
            <a:avLst/>
          </a:prstGeom>
          <a:solidFill>
            <a:srgbClr val="3FA7B5"/>
          </a:solidFill>
          <a:ln>
            <a:solidFill>
              <a:srgbClr val="3FA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99831" y="3300984"/>
            <a:ext cx="201168" cy="22860"/>
          </a:xfrm>
          <a:prstGeom prst="rect">
            <a:avLst/>
          </a:prstGeom>
          <a:solidFill>
            <a:srgbClr val="3FA7B5"/>
          </a:solidFill>
          <a:ln>
            <a:solidFill>
              <a:srgbClr val="3FA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041648"/>
            <a:ext cx="77724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When does a quantum model’s inductive bias justify its extra computational cost?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45152"/>
            <a:ext cx="7863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BFD2E0"/>
                </a:solidFill>
                <a:latin typeface="Aptos"/>
              </a:rPr>
              <a:t>Nitansh Shankar  |  GramHanssen Deepak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Research question and comparison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The goal is not to declare a universal winner, but to identify task-dependent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977639" cy="150876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0292" cy="150876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Research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664208"/>
            <a:ext cx="3739896" cy="1014983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1E2F43"/>
                </a:solidFill>
                <a:latin typeface="Aptos"/>
              </a:rPr>
              <a:t>•  Quantum state spaces are expressive, but expressivity alone does not guarantee useful learning.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E2F43"/>
                </a:solidFill>
                <a:latin typeface="Aptos"/>
              </a:rPr>
              <a:t>•  NISQ-era circuits face depth, noise and optimization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234440"/>
            <a:ext cx="4069080" cy="150876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234440"/>
            <a:ext cx="50292" cy="150876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335024"/>
            <a:ext cx="38130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Primary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1664208"/>
            <a:ext cx="3813048" cy="10241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F43"/>
                </a:solidFill>
                <a:latin typeface="Aptos"/>
              </a:rPr>
              <a:t>On which data geometries does a small variational quantum classifier (VQC) compete with classical MLP baselines?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50292" cy="1417320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3072384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Quantum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401568"/>
            <a:ext cx="3739896" cy="92354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Encode standardized features as Ry angles.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Apply trainable rotations and optional CNOT entanglement.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Measure Pauli-Z expectations; train a classical readout.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971800"/>
            <a:ext cx="4069080" cy="141732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2971800"/>
            <a:ext cx="50292" cy="1417320"/>
          </a:xfrm>
          <a:prstGeom prst="rect">
            <a:avLst/>
          </a:prstGeom>
          <a:solidFill>
            <a:srgbClr val="2B876D"/>
          </a:solidFill>
          <a:ln>
            <a:solidFill>
              <a:srgbClr val="2B8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64024" y="3072384"/>
            <a:ext cx="38130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Classical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3401568"/>
            <a:ext cx="3831336" cy="92354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Feed the same standardized features to an MLP.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Use ReLU hidden units and a binary output logit.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Optimize with Adam and binary cross-entropy.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7955279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6D7A"/>
                </a:solidFill>
                <a:latin typeface="Aptos"/>
              </a:rPr>
              <a:t>Control principle: same held-out examples per seed; different architectures and parameterizations.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Four benchmarks, four different geometries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All tasks are binary classification; synthetic data are regenerated deterministically for each 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432"/>
            <a:ext cx="3977639" cy="13898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0292" cy="138988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271016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Iris: overlapping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600200"/>
            <a:ext cx="3739896" cy="896112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100 samples total; 50 per class.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Versicolor vs virginica using petal length and width.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Tests a small, realistic tabular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170432"/>
            <a:ext cx="4069080" cy="13898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170432"/>
            <a:ext cx="50292" cy="1389888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271016"/>
            <a:ext cx="38130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Two Moons: non-convex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600200"/>
            <a:ext cx="3831336" cy="896112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500 generated samples per seed.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Interleaving crescents with noise σ = 0.25.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Tests representation of curved, irregular regions.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88920"/>
            <a:ext cx="3977639" cy="13898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50292" cy="1389888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2889503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Concentric Circles: radial 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218687"/>
            <a:ext cx="3739896" cy="896112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500 generated samples per seed.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Factor 0.5; noise 0.08.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2F43"/>
                </a:solidFill>
                <a:latin typeface="Aptos"/>
              </a:rPr>
              <a:t>•  Tests whether rotation-based features align with ring geometry.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788920"/>
            <a:ext cx="4069080" cy="13898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2788920"/>
            <a:ext cx="50292" cy="1389888"/>
          </a:xfrm>
          <a:prstGeom prst="rect">
            <a:avLst/>
          </a:prstGeom>
          <a:solidFill>
            <a:srgbClr val="2B876D"/>
          </a:solidFill>
          <a:ln>
            <a:solidFill>
              <a:srgbClr val="2B8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64024" y="2889503"/>
            <a:ext cx="38130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QDataSet: two-qubit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3218687"/>
            <a:ext cx="3831336" cy="896112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500 samples per seed from a Hamiltonian dynamics task.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Labels separable local drift vs interacting X⊗X dynamics.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Features: ⟨XI⟩, ⟨IX⟩, ⟨XX⟩, ⟨ZZ⟩.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80467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6D7A"/>
                </a:solidFill>
                <a:latin typeface="Aptos"/>
              </a:rPr>
              <a:t>Protocol: stratified 75/25 train/test split; scaler fit on training data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Implementation pipeline and model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A reproducible workflow links data preparation, training, evaluation and manuscript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572768" cy="224028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14264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389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8491"/>
                </a:solidFill>
                <a:latin typeface="Aptos"/>
              </a:rPr>
              <a:t>Prepare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1335024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Load datasets; create stratified 75/25 splits; fit StandardScaler on train data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233172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08491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1508760"/>
            <a:ext cx="1572768" cy="224028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12848" y="150876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1581912"/>
            <a:ext cx="14264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057400"/>
            <a:ext cx="1389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8491"/>
                </a:solidFill>
                <a:latin typeface="Aptos"/>
              </a:rPr>
              <a:t>Build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514600"/>
            <a:ext cx="1335024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Compact and wide PyTorch MLPs; PennyLane VQC; independent PyTorch statevector 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5" y="233172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08491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8496" y="1508760"/>
            <a:ext cx="1572768" cy="224028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68496" y="150876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41648" y="1581912"/>
            <a:ext cx="14264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5" y="2057400"/>
            <a:ext cx="1389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8491"/>
                </a:solidFill>
                <a:latin typeface="Aptos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2514600"/>
            <a:ext cx="1335024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Full-batch Adam for 100 epochs; BCE-with-logits; weight decay and gradient clipping.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233172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08491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24144" y="1508760"/>
            <a:ext cx="1572768" cy="224028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24144" y="150876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97296" y="1581912"/>
            <a:ext cx="14264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3" y="2057400"/>
            <a:ext cx="1389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8491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3016" y="2514600"/>
            <a:ext cx="1335024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Accuracy, F1, ROC AUC, log loss, runtime; paired tests and shot-sensitivity checks.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233172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08491"/>
                </a:solidFill>
                <a:latin typeface="Aptos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1508760"/>
            <a:ext cx="1572768" cy="224028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79792" y="150876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52944" y="1581912"/>
            <a:ext cx="14264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2057400"/>
            <a:ext cx="1389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8491"/>
                </a:solidFill>
                <a:latin typeface="Aptos"/>
              </a:rPr>
              <a:t>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4" y="2514600"/>
            <a:ext cx="1335024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CSV/JSON artifacts, plots, LaTeX macros and compiled manuscript.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069080"/>
            <a:ext cx="7955279" cy="502920"/>
          </a:xfrm>
          <a:prstGeom prst="roundRect">
            <a:avLst>
              <a:gd name="adj" fmla="val 8000"/>
            </a:avLst>
          </a:prstGeom>
          <a:solidFill>
            <a:srgbClr val="E6F0F8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197096"/>
            <a:ext cx="7589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E2F43"/>
                </a:solidFill>
                <a:latin typeface="Aptos"/>
              </a:rPr>
              <a:t>Verification: CNOT direction, probability normalization and gradient propagation are covered by tests.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645152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E6D7A"/>
                </a:solidFill>
                <a:latin typeface="Aptos"/>
              </a:rPr>
              <a:t>Primary backend: PennyLane default.qubit, Torch interface, analytic expectations (shots=None).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Experimental design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Matched splits reduce confounding when comparing model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3886200" cy="265176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50292" cy="265176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307592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Evaluation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36776"/>
            <a:ext cx="3648456" cy="215798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10 paired seeds (0–9).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Identical stratified 75/25 split for all models within each seed.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Scaler fit on training data only.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Full-batch training for 100 epochs.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Report mean and sample SD across runs.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Paired t-test, Wilcoxon test and 95% CI for paired differences.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207008"/>
            <a:ext cx="3977639" cy="265176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207008"/>
            <a:ext cx="50292" cy="265176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1307592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22743"/>
                </a:solidFill>
                <a:latin typeface="Aptos"/>
              </a:rPr>
              <a:t>Controls and caveats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5" y="1636776"/>
            <a:ext cx="3739896" cy="215798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Compact MLPs control parameter count; wide MLPs provide stronger references.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QNN depths 1, 2 and 3; depth-2 CNOT ablation.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Finite-shot inference only; trained weights remain fixed.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PennyLane expectations and gradients checked against statevector reference.</a:t>
            </a:r>
          </a:p>
          <a:p>
            <a:pPr>
              <a:spcAft>
                <a:spcPts val="400"/>
              </a:spcAft>
            </a:pPr>
            <a:r>
              <a:rPr sz="969">
                <a:solidFill>
                  <a:srgbClr val="1E2F43"/>
                </a:solidFill>
                <a:latin typeface="Aptos"/>
              </a:rPr>
              <a:t>•  No exhaustive hyperparameter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60520"/>
            <a:ext cx="7955279" cy="438912"/>
          </a:xfrm>
          <a:prstGeom prst="roundRect">
            <a:avLst>
              <a:gd name="adj" fmla="val 8000"/>
            </a:avLst>
          </a:prstGeom>
          <a:solidFill>
            <a:srgbClr val="E7F5EF"/>
          </a:solidFill>
          <a:ln>
            <a:solidFill>
              <a:srgbClr val="BF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7680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B876D"/>
                </a:solidFill>
                <a:latin typeface="Aptos"/>
              </a:rPr>
              <a:t>Interpretation: the protocol supports a controlled small-scale comparison, not a universal ranking of all QNNs and MLPs.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Reproducibility artifacts and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Outputs are machine-readable and generated by the experiment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292" cy="114300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335024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run_metrics.csv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664208"/>
            <a:ext cx="363016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Per-seed and per-model metrics for the benchmark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50292" cy="114300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2679191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shot_sensitivity.csv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08376"/>
            <a:ext cx="363016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Inference results for analytic expectations and finite-shot resampling.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23444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17720" y="1234440"/>
            <a:ext cx="50292" cy="1143000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64024" y="1335024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summary.json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1664208"/>
            <a:ext cx="3721607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Aggregate metrics, standard deviations, paired tests and execution metadata.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578608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2578608"/>
            <a:ext cx="50292" cy="1143000"/>
          </a:xfrm>
          <a:prstGeom prst="rect">
            <a:avLst/>
          </a:prstGeom>
          <a:solidFill>
            <a:srgbClr val="2B876D"/>
          </a:solidFill>
          <a:ln>
            <a:solidFill>
              <a:srgbClr val="2B8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64024" y="2679191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Figures and LaTeX macros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4" y="3008376"/>
            <a:ext cx="3721607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Decision boundaries, loss curves, confusion matrices, ablations and shot sensitivity.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E6F0F8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122743"/>
                </a:solidFill>
                <a:latin typeface="Aptos"/>
              </a:rPr>
              <a:t>Reproduction command documented in the manuscript: python main.py --backend pennylane --seeds 10 --qnn-epochs 100 --mlp-epochs 100 --output-dir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Inside the variational quantum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Architecture used in the report: two qubits for 2D tasks and four qubits for QDataSet.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98448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50292" cy="205740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39903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1 · Encode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1645920" cy="1572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F43"/>
                </a:solidFill>
                <a:latin typeface="Aptos"/>
              </a:rPr>
              <a:t>Standardized feature zᵢ is clipped and mapped to a rotation angle.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71800"/>
            <a:ext cx="1682496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3026664"/>
            <a:ext cx="1645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10" b="1" i="0">
                <a:solidFill>
                  <a:srgbClr val="122743"/>
                </a:solidFill>
                <a:latin typeface="Aptos"/>
              </a:rPr>
              <a:t>xᵢ(q) = π · clip(zᵢ / 2.5, −1,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14884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849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2888" y="1298448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32888" y="1298448"/>
            <a:ext cx="50292" cy="2057400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9192" y="139903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2 · 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1728216"/>
            <a:ext cx="1645920" cy="1572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F43"/>
                </a:solidFill>
                <a:latin typeface="Aptos"/>
              </a:rPr>
              <a:t>Each layer applies trainable Ry(θℓ,ᵢ) rotations; optional CNOT gates couple qubits.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42616" y="2971800"/>
            <a:ext cx="1682496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60904" y="3026664"/>
            <a:ext cx="1645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10" b="1" i="0">
                <a:solidFill>
                  <a:srgbClr val="122743"/>
                </a:solidFill>
                <a:latin typeface="Aptos"/>
              </a:rPr>
              <a:t>Depth L ∈ {1, 2, 3}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4884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849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1298448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298448"/>
            <a:ext cx="50292" cy="205740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139903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3 ·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728216"/>
            <a:ext cx="1645920" cy="1572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F43"/>
                </a:solidFill>
                <a:latin typeface="Aptos"/>
              </a:rPr>
              <a:t>Read out Pauli-Z expectation values from the final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18304" y="2971800"/>
            <a:ext cx="1682496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3026664"/>
            <a:ext cx="1645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10" b="1" i="0">
                <a:solidFill>
                  <a:srgbClr val="122743"/>
                </a:solidFill>
                <a:latin typeface="Aptos"/>
              </a:rPr>
              <a:t>h(x, θ) = [⟨Z₀⟩, …, ⟨Zₙ₋₁⟩]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148840"/>
            <a:ext cx="1645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8491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4264" y="1298448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84264" y="1298448"/>
            <a:ext cx="50292" cy="2057400"/>
          </a:xfrm>
          <a:prstGeom prst="rect">
            <a:avLst/>
          </a:prstGeom>
          <a:solidFill>
            <a:srgbClr val="2B876D"/>
          </a:solidFill>
          <a:ln>
            <a:solidFill>
              <a:srgbClr val="2B8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0568" y="139903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4 · 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728216"/>
            <a:ext cx="1645920" cy="1572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F43"/>
                </a:solidFill>
                <a:latin typeface="Aptos"/>
              </a:rPr>
              <a:t>A trainable linear readout maps measurements to a binary probability.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93992" y="2971800"/>
            <a:ext cx="1682496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3026664"/>
            <a:ext cx="1645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10" b="1" i="0">
                <a:solidFill>
                  <a:srgbClr val="122743"/>
                </a:solidFill>
                <a:latin typeface="Aptos"/>
              </a:rPr>
              <a:t>p(y=1|x) = σ(wᵀh + 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703320"/>
            <a:ext cx="7955279" cy="713232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703320"/>
            <a:ext cx="50292" cy="713232"/>
          </a:xfrm>
          <a:prstGeom prst="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" y="3803904"/>
            <a:ext cx="76992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22743"/>
                </a:solidFill>
                <a:latin typeface="Aptos"/>
              </a:rPr>
              <a:t>Training 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" y="4133087"/>
            <a:ext cx="76992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Binary cross-entropy with logits; PennyLane QNode and PyTorch readout are optimized in a hybrid quantum-classical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Parameter budgets: compact vs wide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Parameter matching helps separate inductive bias from raw model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7772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Input features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Compact MLP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Wide MLP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Depth-2 QNN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2D benchmarks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193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4D QDataSet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225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F43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2971800"/>
            <a:ext cx="3703320" cy="12344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50292" cy="123444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072384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What compact models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401568"/>
            <a:ext cx="3447287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Whether a small classical network can compete with a similarly small circuit.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971800"/>
            <a:ext cx="3703320" cy="12344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2971800"/>
            <a:ext cx="50292" cy="123444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55464" y="3072384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What wide models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3401568"/>
            <a:ext cx="3447287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F43"/>
                </a:solidFill>
                <a:latin typeface="Aptos"/>
              </a:rPr>
              <a:t>How the QNN compares with a stronger, overparameterized classical reference.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6D7A"/>
                </a:solidFill>
                <a:latin typeface="Aptos"/>
              </a:rPr>
              <a:t>Parameter count alone is not a complete measure of capacity: feature maps, inductive bias and optimization differ.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Primary results: classical MLPs usually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Test accuracy, mean ± sample standard deviation across ten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813815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Compact MLP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Wide MLP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QNN depth 2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Iris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0.960 ± 0.027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0.956 ± 0.030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0.912 ± 0.037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Two Moons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0.838 ± 0.021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0.938 ± 0.024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0.763 ± 0.030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Concentric Circles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0.584 ± 0.109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0.999 ± 0.003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0.770 ± 0.083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QDataSet Dynamics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0.818 ± 0.082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0.890 ± 0.022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E2F43"/>
                          </a:solidFill>
                          <a:latin typeface="Aptos"/>
                        </a:rPr>
                        <a:t>0.742 ± 0.047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3703320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3703320"/>
            <a:ext cx="50292" cy="777240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3803904"/>
            <a:ext cx="3538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22743"/>
                </a:solidFill>
                <a:latin typeface="Aptos"/>
              </a:rPr>
              <a:t>Main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133087"/>
            <a:ext cx="3538728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The wide MLP has the highest mean accuracy on all four primary comparisons.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703320"/>
            <a:ext cx="3794760" cy="7772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3703320"/>
            <a:ext cx="50292" cy="77724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55464" y="3803904"/>
            <a:ext cx="3538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22743"/>
                </a:solidFill>
                <a:latin typeface="Aptos"/>
              </a:rPr>
              <a:t>Important 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4133087"/>
            <a:ext cx="3538728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E2F43"/>
                </a:solidFill>
                <a:latin typeface="Aptos"/>
              </a:rPr>
              <a:t>Against the 9-parameter compact MLP, the QNN is stronger on circles, but not against the wide MLP.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Performance across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The source figure reports accuracy and F1 across the ten paired splits.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pri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3549"/>
            <a:ext cx="8138160" cy="27815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553712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1" i="0">
                <a:solidFill>
                  <a:srgbClr val="5E6D7A"/>
                </a:solidFill>
                <a:latin typeface="Aptos"/>
              </a:rPr>
              <a:t>Readout: classical performance is strongest on Two Moons and circles; QNN results vary with data geometry and circuit depth.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Decision boundaries reveal model inductive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Seed-0 visualization from the case study; QDataSet panel is a 2D projection slice.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43" y="1097280"/>
            <a:ext cx="3817352" cy="14173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303" y="1097280"/>
            <a:ext cx="3817352" cy="14173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43" y="2724912"/>
            <a:ext cx="3817352" cy="141732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303" y="2724912"/>
            <a:ext cx="3817352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370832"/>
            <a:ext cx="81381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19" b="1">
                <a:solidFill>
                  <a:srgbClr val="5E6D7A"/>
                </a:solidFill>
                <a:latin typeface="Aptos"/>
              </a:rPr>
              <a:t>Crescents expose boundary mismatch; concentric rings reveal the compact MLP’s capacity limit. QDataSet is shown as a 2D projection.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22743"/>
                </a:solidFill>
                <a:latin typeface="Aptos Display"/>
              </a:rPr>
              <a:t>Training dynamics: loss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Training BCE loss over 100 epochs; shaded regions indicate across-run variability.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70832"/>
            <a:ext cx="3703320" cy="4754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370832"/>
            <a:ext cx="50292" cy="475488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4370832"/>
            <a:ext cx="3703320" cy="47548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4370832"/>
            <a:ext cx="50292" cy="475488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915"/>
            <a:ext cx="8138160" cy="177624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0080" y="4160520"/>
            <a:ext cx="3703320" cy="621792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50292" cy="621792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34564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122743"/>
                </a:solidFill>
                <a:latin typeface="Aptos"/>
              </a:rPr>
              <a:t>Classical MLP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160520"/>
            <a:ext cx="3703320" cy="621792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4160520"/>
            <a:ext cx="50292" cy="621792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242816"/>
            <a:ext cx="34564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>
                <a:solidFill>
                  <a:srgbClr val="122743"/>
                </a:solidFill>
                <a:latin typeface="Aptos"/>
              </a:rPr>
              <a:t>Quantum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471416"/>
            <a:ext cx="3456432" cy="2834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850" b="0">
                <a:solidFill>
                  <a:srgbClr val="1E2F43"/>
                </a:solidFill>
                <a:latin typeface="Aptos"/>
              </a:rPr>
              <a:t>Uses a trigonometric landscape; lower training loss alone does not prove quantum advantage.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71416"/>
            <a:ext cx="3429000" cy="219456"/>
          </a:xfrm>
          <a:prstGeom prst="rect">
            <a:avLst/>
          </a:prstGeom>
          <a:noFill/>
        </p:spPr>
        <p:txBody>
          <a:bodyPr wrap="square" lIns="18288" tIns="9144" bIns="9144">
            <a:spAutoFit/>
          </a:bodyPr>
          <a:lstStyle/>
          <a:p>
            <a:r>
              <a:rPr sz="850">
                <a:solidFill>
                  <a:srgbClr val="1E2F43"/>
                </a:solidFill>
                <a:latin typeface="Aptos"/>
              </a:rPr>
              <a:t>Typically reaches lower training loss faster.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Circuit depth and entanglement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Test accuracy, mean ± SD; depth-2 entangled is the primary QNN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qn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66" y="1051560"/>
            <a:ext cx="6523466" cy="2651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8862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50292" cy="658368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986784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22743"/>
                </a:solidFill>
                <a:latin typeface="Aptos"/>
              </a:rPr>
              <a:t>Depth is task-dependent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315968"/>
            <a:ext cx="3447287" cy="1737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1E2F43"/>
                </a:solidFill>
                <a:latin typeface="Aptos"/>
              </a:rPr>
              <a:t>Depth 3 improves Two Moons; circles perform best at depths 1 and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8862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3886200"/>
            <a:ext cx="50292" cy="658368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9744" y="3986784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22743"/>
                </a:solidFill>
                <a:latin typeface="Aptos"/>
              </a:rPr>
              <a:t>CNOT ablation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4315968"/>
            <a:ext cx="3447287" cy="1737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1E2F43"/>
                </a:solidFill>
                <a:latin typeface="Aptos"/>
              </a:rPr>
              <a:t>Removing entanglement lowers accuracy across all four tasks in the reported setup.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Finite-shot inference: sampling noise is small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The trained QNN weights were fixed; only inference measurement sampling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813815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Analytic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256 shots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1,024 shots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Iris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0.912 ± 0.035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0.907 ± 0.042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0.912 ± 0.036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Two Moons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0.763 ± 0.029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0.761 ± 0.031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0.762 ± 0.027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Concentric Circles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0.770 ± 0.080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0.767 ± 0.076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0.771 ± 0.078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QDataSet Dynamics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0.742 ± 0.045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0.743 ± 0.046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E2F43"/>
                          </a:solidFill>
                          <a:latin typeface="Aptos"/>
                        </a:rPr>
                        <a:t>0.743 ± 0.049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sho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78" y="3063240"/>
            <a:ext cx="6312442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590288"/>
            <a:ext cx="7772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19" b="1" i="0">
                <a:solidFill>
                  <a:srgbClr val="5E6D7A"/>
                </a:solidFill>
                <a:latin typeface="Aptos"/>
              </a:rPr>
              <a:t>Within these simulations, accuracy changes only slightly; this does not model gate errors, decoherence or noisy training gradients.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00" b="1">
                <a:solidFill>
                  <a:srgbClr val="122743"/>
                </a:solidFill>
                <a:latin typeface="Aptos"/>
              </a:rPr>
              <a:t>Final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850" b="0">
                <a:solidFill>
                  <a:srgbClr val="5E6D7A"/>
                </a:solidFill>
                <a:latin typeface="Aptos"/>
              </a:rPr>
              <a:t>Use the evidence to make a nuanced argument rather than a universal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96A4AF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794760" cy="1115568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0292" cy="111556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5478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122743"/>
                </a:solidFill>
                <a:latin typeface="Aptos"/>
              </a:rPr>
              <a:t>1 · Baseline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3538728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19" b="0">
                <a:solidFill>
                  <a:srgbClr val="1E2F43"/>
                </a:solidFill>
                <a:latin typeface="Aptos"/>
              </a:rPr>
              <a:t>The wide MLP is the strongest tested model on all four primary benchmarks.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325880"/>
            <a:ext cx="3794760" cy="1115568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1325880"/>
            <a:ext cx="50292" cy="1115568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435607"/>
            <a:ext cx="35478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122743"/>
                </a:solidFill>
                <a:latin typeface="Aptos"/>
              </a:rPr>
              <a:t>2 · Geometry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55648"/>
            <a:ext cx="3538728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19" b="0">
                <a:solidFill>
                  <a:srgbClr val="1E2F43"/>
                </a:solidFill>
                <a:latin typeface="Aptos"/>
              </a:rPr>
              <a:t>A shallow quantum circuit can align with circular symmetry, but depth-2 does not consistently beat classical baselines.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3794760" cy="1115568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743200"/>
            <a:ext cx="50292" cy="1115568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852928"/>
            <a:ext cx="35478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122743"/>
                </a:solidFill>
                <a:latin typeface="Aptos"/>
              </a:rPr>
              <a:t>3 · Claims need bounds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72968"/>
            <a:ext cx="3538728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19" b="0">
                <a:solidFill>
                  <a:srgbClr val="1E2F43"/>
                </a:solidFill>
                <a:latin typeface="Aptos"/>
              </a:rPr>
              <a:t>Small circuits, limited tasks and ten seeds support cautious, task-specific conclusions.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743200"/>
            <a:ext cx="3794760" cy="1115568"/>
          </a:xfrm>
          <a:prstGeom prst="roundRect">
            <a:avLst/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60" y="2743200"/>
            <a:ext cx="50292" cy="111556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852928"/>
            <a:ext cx="35478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122743"/>
                </a:solidFill>
                <a:latin typeface="Aptos"/>
              </a:rPr>
              <a:t>4 · No hardware speedup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72968"/>
            <a:ext cx="3538728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19" b="0">
                <a:solidFill>
                  <a:srgbClr val="1E2F43"/>
                </a:solidFill>
                <a:latin typeface="Aptos"/>
              </a:rPr>
              <a:t>The experiments use classical simulation; they do not demonstrate quantum runtime or complexity advantage.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30" b="1">
                <a:solidFill>
                  <a:srgbClr val="5E6D7A"/>
                </a:solidFill>
                <a:latin typeface="Aptos"/>
              </a:rPr>
              <a:t>Discussion prompt: which data-access assumptions and classical baselines would be required to establish a genuine quantum advantage?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Paired tests: where differences are supported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Exploratory tests compare seed-matched test accuracy differences.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795527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Paired comparison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Mean accuracy difference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Paired t-test p</a:t>
                      </a:r>
                    </a:p>
                  </a:txBody>
                  <a:tcPr marL="64008" marR="54864" marT="41148" marB="32004" anchor="ctr">
                    <a:solidFill>
                      <a:srgbClr val="122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Iris: QNN − wide MLP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−0.0440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0.00324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Two Moons: QNN − wide MLP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−0.1752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5.84 × 10⁻⁸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Circles: QNN − wide MLP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−0.2288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1.03 × 10⁻⁵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Circles: QNN − compact MLP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+0.1864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0.00334</a:t>
                      </a:r>
                    </a:p>
                  </a:txBody>
                  <a:tcPr marL="64008" marR="54864" marT="41148" marB="32004" anchor="ctr">
                    <a:solidFill>
                      <a:srgbClr val="EF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QDataSet: QNN − wide MLP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−0.1480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F43"/>
                          </a:solidFill>
                          <a:latin typeface="Aptos"/>
                        </a:rPr>
                        <a:t>8.00 × 10⁻⁸</a:t>
                      </a:r>
                    </a:p>
                  </a:txBody>
                  <a:tcPr marL="64008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886200"/>
            <a:ext cx="7863840" cy="658368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50292" cy="65836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986784"/>
            <a:ext cx="760780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122743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242" y="4220609"/>
            <a:ext cx="7607808" cy="1737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 dirty="0">
                <a:solidFill>
                  <a:srgbClr val="1E2F43"/>
                </a:solidFill>
                <a:latin typeface="Aptos"/>
              </a:rPr>
              <a:t>The circle result is the controlled exception: depth-2 QNN exceeds the 9-parameter compact MLP by 0.1864 mean accuracy, yet remains below the wide MLP. Ten seeds make these exploratory, not universal,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Capacity control: small models change the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Compact MLPs are useful controls, but are not substitutes for stronger classical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capacity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5456"/>
            <a:ext cx="8046720" cy="17091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187952"/>
            <a:ext cx="3703320" cy="5486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187952"/>
            <a:ext cx="50292" cy="54864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4288536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122743"/>
                </a:solidFill>
                <a:latin typeface="Aptos"/>
              </a:rPr>
              <a:t>Parameter-matched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512564"/>
            <a:ext cx="3447287" cy="640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30" b="0" i="0" dirty="0">
                <a:solidFill>
                  <a:srgbClr val="1E2F43"/>
                </a:solidFill>
                <a:latin typeface="Aptos"/>
              </a:rPr>
              <a:t>QNN has 7 parameters on 2D tasks and 13 on </a:t>
            </a:r>
            <a:r>
              <a:rPr sz="830" b="0" i="0" dirty="0" err="1">
                <a:solidFill>
                  <a:srgbClr val="1E2F43"/>
                </a:solidFill>
                <a:latin typeface="Aptos"/>
              </a:rPr>
              <a:t>QDataSet</a:t>
            </a:r>
            <a:r>
              <a:rPr sz="830" b="0" i="0" dirty="0">
                <a:solidFill>
                  <a:srgbClr val="1E2F43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187952"/>
            <a:ext cx="3703320" cy="54864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4187952"/>
            <a:ext cx="50292" cy="54864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9744" y="4288536"/>
            <a:ext cx="344728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122743"/>
                </a:solidFill>
                <a:latin typeface="Aptos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4512564"/>
            <a:ext cx="3447287" cy="640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30" b="0" i="0" dirty="0">
                <a:solidFill>
                  <a:srgbClr val="1E2F43"/>
                </a:solidFill>
                <a:latin typeface="Aptos"/>
              </a:rPr>
              <a:t>A quantum advantage claim depends on which classical baseline is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275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22743"/>
                </a:solidFill>
                <a:latin typeface="Aptos Display"/>
              </a:rPr>
              <a:t>Confusion matrices: inspect error balance, not only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694944"/>
            <a:ext cx="566928" cy="32004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758952"/>
            <a:ext cx="8229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E6D7A"/>
                </a:solidFill>
                <a:latin typeface="Aptos"/>
              </a:rPr>
              <a:t>Pooled held-out predictions across ten splits, as visualized in the source manuscript.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17</a:t>
            </a:r>
          </a:p>
        </p:txBody>
      </p:sp>
      <p:pic>
        <p:nvPicPr>
          <p:cNvPr id="7" name="Picture 6" descr="confusion_row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25" y="1115568"/>
            <a:ext cx="3332988" cy="1481328"/>
          </a:xfrm>
          <a:prstGeom prst="rect">
            <a:avLst/>
          </a:prstGeom>
        </p:spPr>
      </p:pic>
      <p:pic>
        <p:nvPicPr>
          <p:cNvPr id="8" name="Picture 7" descr="confusion_row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8" y="1115568"/>
            <a:ext cx="3332988" cy="1481328"/>
          </a:xfrm>
          <a:prstGeom prst="rect">
            <a:avLst/>
          </a:prstGeom>
        </p:spPr>
      </p:pic>
      <p:pic>
        <p:nvPicPr>
          <p:cNvPr id="9" name="Picture 8" descr="confusion_row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5" y="2788920"/>
            <a:ext cx="3332988" cy="1481328"/>
          </a:xfrm>
          <a:prstGeom prst="rect">
            <a:avLst/>
          </a:prstGeom>
        </p:spPr>
      </p:pic>
      <p:pic>
        <p:nvPicPr>
          <p:cNvPr id="10" name="Picture 9" descr="confusion_row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198" y="2788920"/>
            <a:ext cx="3332988" cy="148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4462272"/>
            <a:ext cx="7955279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19" b="1">
                <a:solidFill>
                  <a:srgbClr val="5E6D7A"/>
                </a:solidFill>
                <a:latin typeface="Aptos"/>
              </a:rPr>
              <a:t>Each pair contrasts classical MLP and depth-2 QNN errors for one benchmark; the pattern is task-dependent.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92608"/>
            <a:ext cx="82296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Conclusions: match the model to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046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0D5E2"/>
                </a:solidFill>
                <a:latin typeface="Aptos"/>
              </a:rPr>
              <a:t>The evidence supports a nuanced claim about inductive bias, not a universal quantum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91456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96A4AF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0292" cy="1143000"/>
          </a:xfrm>
          <a:prstGeom prst="rect">
            <a:avLst/>
          </a:prstGeom>
          <a:solidFill>
            <a:srgbClr val="008491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335024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What the study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664208"/>
            <a:ext cx="3648456" cy="64922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Wide MLPs lead on all four primary depth-2 comparisons.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QNN depth and entanglement effects depend on dataset geometry.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50292" cy="1143000"/>
          </a:xfrm>
          <a:prstGeom prst="rect">
            <a:avLst/>
          </a:prstGeom>
          <a:solidFill>
            <a:srgbClr val="DC8B30"/>
          </a:solidFill>
          <a:ln>
            <a:solidFill>
              <a:srgbClr val="D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4" y="1335024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What it does not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5" y="1664208"/>
            <a:ext cx="3739896" cy="64922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No physical quantum speedup: all primary training uses classical simulation.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Finite-shot experiment covers inference sampling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9748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50292" cy="1143000"/>
          </a:xfrm>
          <a:prstGeom prst="rect">
            <a:avLst/>
          </a:prstGeom>
          <a:solidFill>
            <a:srgbClr val="37699D"/>
          </a:solidFill>
          <a:ln>
            <a:solidFill>
              <a:srgbClr val="376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98064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Important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127248"/>
            <a:ext cx="3648456" cy="649224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Four small binary tasks; fixed architectures and learning rates.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1E2F43"/>
                </a:solidFill>
                <a:latin typeface="Aptos"/>
              </a:rPr>
              <a:t>•  No exhaustive hyperparameter search or hardware noise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69748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EFF6F9"/>
          </a:solidFill>
          <a:ln>
            <a:solidFill>
              <a:srgbClr val="D8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697480"/>
            <a:ext cx="50292" cy="1143000"/>
          </a:xfrm>
          <a:prstGeom prst="rect">
            <a:avLst/>
          </a:prstGeom>
          <a:solidFill>
            <a:srgbClr val="2B876D"/>
          </a:solidFill>
          <a:ln>
            <a:solidFill>
              <a:srgbClr val="2B8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9744" y="2798064"/>
            <a:ext cx="37216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22743"/>
                </a:solidFill>
                <a:latin typeface="Aptos"/>
              </a:rPr>
              <a:t>Closing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3127248"/>
            <a:ext cx="3721607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1E2F43"/>
                </a:solidFill>
                <a:latin typeface="Aptos"/>
              </a:rPr>
              <a:t>The clearest positive result is task-specific: the depth-2 QNN beats the compact MLP on circles, while the wide MLP remains strongest overall.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7863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Discussion question: what baseline and data-access assumptions would be required to demonstrate a genuine quantum advantage?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7863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BFD2E0"/>
                </a:solidFill>
                <a:latin typeface="Aptos"/>
              </a:rPr>
              <a:t>Qubit vs Neuron  ·  Case study by Nitansh Shankar and GramHanssen Deepak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1999</Words>
  <Application>Microsoft Office PowerPoint</Application>
  <PresentationFormat>On-screen Show (16:9)</PresentationFormat>
  <Paragraphs>292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Qubit vs Neuron: A Comparative Case Study</dc:title>
  <dc:subject>PptxGenJS Presentation</dc:subject>
  <dc:creator>PptxGenJS</dc:creator>
  <cp:lastModifiedBy>Nitansh Shankar - [CB.SC.U4CSE24431]</cp:lastModifiedBy>
  <cp:revision>2</cp:revision>
  <dcterms:created xsi:type="dcterms:W3CDTF">2026-10-11T03:32:31Z</dcterms:created>
  <dcterms:modified xsi:type="dcterms:W3CDTF">2026-10-14T04:21:34Z</dcterms:modified>
</cp:coreProperties>
</file>